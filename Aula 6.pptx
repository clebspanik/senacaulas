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6858000" type="screen4x3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FE6C3F-2B0A-0889-A2A5-55541CEE7B92}" v="2" dt="2025-04-23T23:53:33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Luiz" userId="130e1cdcfcff23cc" providerId="LiveId" clId="{3D037AD9-C4E2-493F-B819-C9A93F962CFD}"/>
    <pc:docChg chg="undo custSel addSld delSld">
      <pc:chgData name="Marcos Luiz" userId="130e1cdcfcff23cc" providerId="LiveId" clId="{3D037AD9-C4E2-493F-B819-C9A93F962CFD}" dt="2025-04-12T00:41:58.199" v="1" actId="47"/>
      <pc:docMkLst>
        <pc:docMk/>
      </pc:docMkLst>
      <pc:sldChg chg="add del">
        <pc:chgData name="Marcos Luiz" userId="130e1cdcfcff23cc" providerId="LiveId" clId="{3D037AD9-C4E2-493F-B819-C9A93F962CFD}" dt="2025-04-12T00:41:58.199" v="1" actId="47"/>
        <pc:sldMkLst>
          <pc:docMk/>
          <pc:sldMk cId="0" sldId="266"/>
        </pc:sldMkLst>
      </pc:sldChg>
    </pc:docChg>
  </pc:docChgLst>
  <pc:docChgLst>
    <pc:chgData name="ANDREW NATHAN DA SILVA MARQUES" userId="S::andrew.marques@alunos.sc.senac.br::44ce0ebf-8ffe-42ba-b85b-0ab546a4fee6" providerId="AD" clId="Web-{58FE6C3F-2B0A-0889-A2A5-55541CEE7B92}"/>
    <pc:docChg chg="modSld">
      <pc:chgData name="ANDREW NATHAN DA SILVA MARQUES" userId="S::andrew.marques@alunos.sc.senac.br::44ce0ebf-8ffe-42ba-b85b-0ab546a4fee6" providerId="AD" clId="Web-{58FE6C3F-2B0A-0889-A2A5-55541CEE7B92}" dt="2025-04-23T23:53:33.406" v="1" actId="688"/>
      <pc:docMkLst>
        <pc:docMk/>
      </pc:docMkLst>
      <pc:sldChg chg="modSp">
        <pc:chgData name="ANDREW NATHAN DA SILVA MARQUES" userId="S::andrew.marques@alunos.sc.senac.br::44ce0ebf-8ffe-42ba-b85b-0ab546a4fee6" providerId="AD" clId="Web-{58FE6C3F-2B0A-0889-A2A5-55541CEE7B92}" dt="2025-04-23T23:53:33.406" v="1" actId="688"/>
        <pc:sldMkLst>
          <pc:docMk/>
          <pc:sldMk cId="0" sldId="264"/>
        </pc:sldMkLst>
        <pc:spChg chg="mod">
          <ac:chgData name="ANDREW NATHAN DA SILVA MARQUES" userId="S::andrew.marques@alunos.sc.senac.br::44ce0ebf-8ffe-42ba-b85b-0ab546a4fee6" providerId="AD" clId="Web-{58FE6C3F-2B0A-0889-A2A5-55541CEE7B92}" dt="2025-04-23T23:53:33.406" v="1" actId="688"/>
          <ac:spMkLst>
            <pc:docMk/>
            <pc:sldMk cId="0" sldId="264"/>
            <ac:spMk id="10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6B1EA40-7E6A-489B-83FA-8456AFFA089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064494E-F7BE-4145-9DF8-1CE1161B8AB0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3A8278-EC74-4CAD-AAEF-95D0BBB468E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AA2A4A4-6D34-4B71-8DB1-3989D131D33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A11D2EC-695F-437C-A61A-D88BFCCD2A5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9343B37-6F66-4E92-81F4-0CD4055A76C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5C47298-585E-4A4B-82AD-5072E20BB44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C844B3B-124C-4101-8924-7E69F392302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15FE6BB-47D4-4EEB-B209-489687371A1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8E39ABE-A55D-441D-89DE-34FB98BC3A9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38CF5E9-2BE1-4625-A35B-9794B138688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8D1D30C-5297-42C6-B11E-EF92EABC3969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7051C61-C45B-4BC2-B3BF-9D0CFA0F73E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C46E9E7-3042-446C-AECB-DDFD44D2233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764912B-7B3F-4BD7-AF48-E01627B1291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8EB21C8-EB70-4243-B4B5-E568ACAE032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2F50967-544A-4FDD-A923-E30C2EB8F98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9CB709A-47F4-4AAD-9BD2-F4BA2B8C020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D58C357-7F3C-446A-AA2A-59686B03BB4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65D733D-D998-44D5-81AB-621C3EBDD05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D3D77A1-2972-42D6-A7F5-79F655FAB82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519CD72-3907-4642-A2CD-CD1579F1FD2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FD558C-0F8B-407A-8907-26430FE234F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608A9B6-9E17-4DAC-8E5E-2860BF0C20B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63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B5035F6-022C-4BB3-AFBB-78E1949F1C88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6356520"/>
            <a:ext cx="20563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pt-BR" sz="1400" b="0" strike="noStrike" spc="-1">
                <a:latin typeface="Times New Roman"/>
              </a:defRPr>
            </a:lvl1pPr>
          </a:lstStyle>
          <a:p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02904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63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90BB4150-A409-4C3F-A496-DB350E4A6663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628560" y="6356520"/>
            <a:ext cx="20563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pt-BR" sz="1400" b="0" strike="noStrike" spc="-1">
                <a:latin typeface="Times New Roman"/>
              </a:defRPr>
            </a:lvl1pPr>
          </a:lstStyle>
          <a:p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4;p13"/>
          <p:cNvSpPr/>
          <p:nvPr/>
        </p:nvSpPr>
        <p:spPr>
          <a:xfrm>
            <a:off x="1094400" y="1252800"/>
            <a:ext cx="4282920" cy="116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65000"/>
          </a:bodyPr>
          <a:lstStyle/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1" strike="noStrike" spc="-1">
                <a:solidFill>
                  <a:srgbClr val="FFFFFF"/>
                </a:solidFill>
                <a:latin typeface="Verdana"/>
                <a:ea typeface="Verdana"/>
              </a:rPr>
              <a:t>Desenvolver sistemas de informação - Aula 6</a:t>
            </a:r>
            <a:endParaRPr lang="pt-BR" sz="4000" b="0" strike="noStrike" spc="-1">
              <a:latin typeface="Arial"/>
            </a:endParaRPr>
          </a:p>
        </p:txBody>
      </p:sp>
      <p:pic>
        <p:nvPicPr>
          <p:cNvPr id="83" name="Google Shape;85;p13"/>
          <p:cNvPicPr/>
          <p:nvPr/>
        </p:nvPicPr>
        <p:blipFill>
          <a:blip r:embed="rId3"/>
          <a:stretch/>
        </p:blipFill>
        <p:spPr>
          <a:xfrm>
            <a:off x="1175760" y="2648880"/>
            <a:ext cx="588240" cy="38160"/>
          </a:xfrm>
          <a:prstGeom prst="rect">
            <a:avLst/>
          </a:prstGeom>
          <a:ln w="0">
            <a:noFill/>
          </a:ln>
        </p:spPr>
      </p:pic>
      <p:sp>
        <p:nvSpPr>
          <p:cNvPr id="84" name="Google Shape;86;p13"/>
          <p:cNvSpPr/>
          <p:nvPr/>
        </p:nvSpPr>
        <p:spPr>
          <a:xfrm>
            <a:off x="1094400" y="2919960"/>
            <a:ext cx="3808800" cy="7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FFFFFF"/>
                </a:solidFill>
                <a:latin typeface="Verdana"/>
                <a:ea typeface="Verdana"/>
              </a:rPr>
              <a:t>Marcos Luiz - marcos.luiz@prof.sc.senac.br</a:t>
            </a:r>
            <a:endParaRPr lang="pt-BR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69;p25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Encapsulamento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86" name="Google Shape;170;p25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87" name="Google Shape;171;p25"/>
          <p:cNvSpPr/>
          <p:nvPr/>
        </p:nvSpPr>
        <p:spPr>
          <a:xfrm>
            <a:off x="506160" y="2502360"/>
            <a:ext cx="8232480" cy="397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700" b="0" strike="noStrike" spc="-1">
                <a:solidFill>
                  <a:srgbClr val="000000"/>
                </a:solidFill>
                <a:latin typeface="Verdana"/>
                <a:ea typeface="Verdana"/>
              </a:rPr>
              <a:t>O conceito do encapsulamento consiste em “esconder” os atributos da classe de quem for utilizá-la. Isso se deve por dois motivos principais.</a:t>
            </a:r>
            <a:endParaRPr lang="pt-BR" sz="17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endParaRPr lang="pt-BR" sz="17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700" b="0" strike="noStrike" spc="-1">
                <a:solidFill>
                  <a:srgbClr val="000000"/>
                </a:solidFill>
                <a:latin typeface="Verdana"/>
                <a:ea typeface="Verdana"/>
              </a:rPr>
              <a:t>Um é para que alguém que for usar a classe não a use de forma errada como, por exemplo, em uma classe que tem um método de divisão entre dois atributos da classe - se o programador java não conhecer a implementação interna da classe, ele pode colocar o valor zero no atributo do dividendo, mas se a classe estiver corretamente encapsulada podemos impedir que o programador faça isso. Esse tipo de implementação é feito via os métodos get e set.</a:t>
            </a:r>
            <a:endParaRPr lang="pt-BR" sz="17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76;p26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Encapsulamento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89" name="Google Shape;177;p26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90" name="Google Shape;178;p26"/>
          <p:cNvSpPr/>
          <p:nvPr/>
        </p:nvSpPr>
        <p:spPr>
          <a:xfrm>
            <a:off x="506160" y="2502360"/>
            <a:ext cx="8232480" cy="20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700" b="0" strike="noStrike" spc="-1">
                <a:solidFill>
                  <a:srgbClr val="000000"/>
                </a:solidFill>
                <a:latin typeface="Verdana"/>
                <a:ea typeface="Verdana"/>
              </a:rPr>
              <a:t>O outro motivo é de manter todo o código de uma determinada classe encapsulada dentro dela mesmo como, por exemplo, se existe uma classe Conta, talvez seja melhor não permitir que um programador acesse o atributo saldo diretamente, nem mesmo com os métodos get e set, mas somente por operações, como saque, depósito e saldo.</a:t>
            </a:r>
            <a:endParaRPr lang="pt-BR" sz="17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183;p27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Associação de Classes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92" name="Google Shape;184;p27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93" name="Google Shape;185;p27"/>
          <p:cNvSpPr/>
          <p:nvPr/>
        </p:nvSpPr>
        <p:spPr>
          <a:xfrm>
            <a:off x="506160" y="2502360"/>
            <a:ext cx="8232480" cy="281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700" b="0" strike="noStrike" spc="-1">
                <a:solidFill>
                  <a:srgbClr val="000000"/>
                </a:solidFill>
                <a:latin typeface="Verdana"/>
                <a:ea typeface="Verdana"/>
              </a:rPr>
              <a:t>A associação de classes indica quando uma classe tem um tipo de relacionamento "tem um" com outra classe como, por exemplo, uma pessoa tem um carro e isso indica que a classe Pessoa tem uma associação com a classe Carro. Esse tipo de relacionamento entre classes é importante, porque define como as classes interagem entre elas nas aplicações.</a:t>
            </a:r>
            <a:endParaRPr lang="pt-BR" sz="17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700" b="0" strike="noStrike" spc="-1">
                <a:solidFill>
                  <a:srgbClr val="000000"/>
                </a:solidFill>
                <a:latin typeface="Verdana"/>
                <a:ea typeface="Verdana"/>
              </a:rPr>
              <a:t>Exemplo: Carro e Pessoa</a:t>
            </a:r>
            <a:endParaRPr lang="pt-BR" sz="17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90;p28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Associação de Classes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95" name="Google Shape;191;p28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96" name="Google Shape;192;p28"/>
          <p:cNvSpPr/>
          <p:nvPr/>
        </p:nvSpPr>
        <p:spPr>
          <a:xfrm>
            <a:off x="506160" y="2502360"/>
            <a:ext cx="8232480" cy="20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700" b="0" strike="noStrike" spc="-1">
                <a:solidFill>
                  <a:srgbClr val="000000"/>
                </a:solidFill>
                <a:latin typeface="Verdana"/>
                <a:ea typeface="Verdana"/>
              </a:rPr>
              <a:t>Além do relacionamento um para um, também existem o relacionamento um para N e N para N. Esses relacionamentos são modelados com um vetor de objetos de uma classe para outro como, por exemplo, se uma pessoa pode ter mais de um carro, é necessário mapear esse relacionamento com uma lista de carros na classe Pessoa</a:t>
            </a:r>
            <a:endParaRPr lang="pt-BR" sz="17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197;p29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Herança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98" name="Google Shape;198;p29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99" name="Google Shape;199;p29"/>
          <p:cNvSpPr/>
          <p:nvPr/>
        </p:nvSpPr>
        <p:spPr>
          <a:xfrm>
            <a:off x="506160" y="2502360"/>
            <a:ext cx="8232480" cy="281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700" b="0" strike="noStrike" spc="-1">
                <a:solidFill>
                  <a:srgbClr val="000000"/>
                </a:solidFill>
                <a:latin typeface="Verdana"/>
                <a:ea typeface="Verdana"/>
              </a:rPr>
              <a:t>A herança é um tipo de relacionamento que define que uma classe "é um" de outra classe como, por exemplo, a classe Funcionario que é uma Pessoa, assim um Funcionário tem um relacionamento de herança com a classe Pessoa. Em algumas linguagens, como C, é possível fazer herança múltipla, isto é, uma classe pode herdar de diversas outras classes, mas em Java isso não é permitido, pois cada classe pode herdar de apenas outra classe.</a:t>
            </a:r>
            <a:endParaRPr lang="pt-BR" sz="17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204;p30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Herança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101" name="Google Shape;205;p30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02" name="Google Shape;206;p30"/>
          <p:cNvSpPr/>
          <p:nvPr/>
        </p:nvSpPr>
        <p:spPr>
          <a:xfrm>
            <a:off x="506160" y="2502360"/>
            <a:ext cx="8232480" cy="20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700" b="0" strike="noStrike" spc="-1">
                <a:solidFill>
                  <a:srgbClr val="000000"/>
                </a:solidFill>
                <a:latin typeface="Verdana"/>
                <a:ea typeface="Verdana"/>
              </a:rPr>
              <a:t>A classe Pessoa definida será utilizada como base para as outras classes. Será definida a classe Funcionario, com os atributos salário e matrícula, e a classe Aluno com os atributos registroAcademico e curso. Como é possível observar, para implementar herança em Java usaremos a palavra reservada extends.</a:t>
            </a:r>
            <a:endParaRPr lang="pt-BR" sz="17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211;p31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Herança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104" name="Google Shape;212;p31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05" name="Google Shape;213;p31"/>
          <p:cNvSpPr/>
          <p:nvPr/>
        </p:nvSpPr>
        <p:spPr>
          <a:xfrm>
            <a:off x="506160" y="2502360"/>
            <a:ext cx="8232480" cy="447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600" b="0" strike="noStrike" spc="-1">
                <a:solidFill>
                  <a:srgbClr val="000000"/>
                </a:solidFill>
                <a:latin typeface="Verdana"/>
                <a:ea typeface="Verdana"/>
              </a:rPr>
              <a:t>Sobre a herança em Java é importante saber que existem quatro tipos de acesso aos atributos:</a:t>
            </a:r>
            <a:endParaRPr lang="pt-BR" sz="16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600" b="1" strike="noStrike" spc="-1">
                <a:solidFill>
                  <a:srgbClr val="000000"/>
                </a:solidFill>
                <a:latin typeface="Verdana"/>
                <a:ea typeface="Verdana"/>
              </a:rPr>
              <a:t>public:</a:t>
            </a:r>
            <a:r>
              <a:rPr lang="pt-BR" sz="1600" b="0" strike="noStrike" spc="-1">
                <a:solidFill>
                  <a:srgbClr val="000000"/>
                </a:solidFill>
                <a:latin typeface="Verdana"/>
                <a:ea typeface="Verdana"/>
              </a:rPr>
              <a:t> que permite que métodos e atributos sejam acessados diretamente de qualquer classe;</a:t>
            </a:r>
            <a:endParaRPr lang="pt-BR" sz="16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600" b="1" strike="noStrike" spc="-1">
                <a:solidFill>
                  <a:srgbClr val="000000"/>
                </a:solidFill>
                <a:latin typeface="Verdana"/>
                <a:ea typeface="Verdana"/>
              </a:rPr>
              <a:t>private:</a:t>
            </a:r>
            <a:r>
              <a:rPr lang="pt-BR" sz="1600" b="0" strike="noStrike" spc="-1">
                <a:solidFill>
                  <a:srgbClr val="000000"/>
                </a:solidFill>
                <a:latin typeface="Verdana"/>
                <a:ea typeface="Verdana"/>
              </a:rPr>
              <a:t> que permite que métodos e atributos sejam acessados apenas dentro da classe;</a:t>
            </a:r>
            <a:endParaRPr lang="pt-BR" sz="16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600" b="1" strike="noStrike" spc="-1">
                <a:solidFill>
                  <a:srgbClr val="000000"/>
                </a:solidFill>
                <a:latin typeface="Verdana"/>
                <a:ea typeface="Verdana"/>
              </a:rPr>
              <a:t>protected:</a:t>
            </a:r>
            <a:r>
              <a:rPr lang="pt-BR" sz="1600" b="0" strike="noStrike" spc="-1">
                <a:solidFill>
                  <a:srgbClr val="000000"/>
                </a:solidFill>
                <a:latin typeface="Verdana"/>
                <a:ea typeface="Verdana"/>
              </a:rPr>
              <a:t> que permite que métodos e atributos sejam acessados apenas dentro da própria classe e em classes filhas e o tipo de acesso padrão, que permite que métodos e atributos sejam acessadas por qualquer classes que esteja no mesmo pacote.</a:t>
            </a:r>
            <a:endParaRPr lang="pt-BR" sz="16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600" b="0" strike="noStrike" spc="-1">
                <a:solidFill>
                  <a:srgbClr val="000000"/>
                </a:solidFill>
                <a:latin typeface="Verdana"/>
                <a:ea typeface="Verdana"/>
              </a:rPr>
              <a:t>Como usamos a classe Pessoa com herança, uma possibilidade é mudar o tipo de acesso dos atributos da classe Pessoa para </a:t>
            </a:r>
            <a:r>
              <a:rPr lang="pt-BR" sz="1600" b="1" strike="noStrike" spc="-1">
                <a:solidFill>
                  <a:srgbClr val="000000"/>
                </a:solidFill>
                <a:latin typeface="Verdana"/>
                <a:ea typeface="Verdana"/>
              </a:rPr>
              <a:t>protegido</a:t>
            </a:r>
            <a:endParaRPr lang="pt-BR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18;p32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Polimorfismo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107" name="Google Shape;219;p32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08" name="Google Shape;220;p32"/>
          <p:cNvSpPr/>
          <p:nvPr/>
        </p:nvSpPr>
        <p:spPr>
          <a:xfrm>
            <a:off x="506160" y="2502360"/>
            <a:ext cx="8232480" cy="227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600" b="0" strike="noStrike" spc="-1">
                <a:solidFill>
                  <a:srgbClr val="000000"/>
                </a:solidFill>
                <a:latin typeface="Verdana"/>
                <a:ea typeface="Verdana"/>
              </a:rPr>
              <a:t>Um exemplo de polimorfismo, onde a classe Conta tem um método saque que apenas permite o saque caso o cliente tenha saldo em sua conta. A classe ContaEspecial, que é filha da classe Conta, permite que o cliente faça um saque caso tenha saldo ou tenha ainda limite no cheque especial, e a classe ContaPoupanca permite que o cliente faça um saque caso ainda tenha saldo na conta corrente ou saldo na conta poupança.</a:t>
            </a:r>
            <a:endParaRPr lang="pt-BR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225;p33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Polimorfismo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110" name="Google Shape;226;p33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1" name="Google Shape;227;p33"/>
          <p:cNvSpPr/>
          <p:nvPr/>
        </p:nvSpPr>
        <p:spPr>
          <a:xfrm>
            <a:off x="506160" y="2502360"/>
            <a:ext cx="8232480" cy="227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600" b="0" strike="noStrike" spc="-1">
                <a:solidFill>
                  <a:srgbClr val="000000"/>
                </a:solidFill>
                <a:latin typeface="Verdana"/>
                <a:ea typeface="Verdana"/>
              </a:rPr>
              <a:t>Apesar de serem definidos objetos dos três tipos de classes. O método fazSaque pode ser utilizado para qualquer um dos tipos de conta, não dependendo do tipo que é passado como parâmetro para ele, e isso é possível graças ao polimorfismo, pois o método saque das três classes têm a mesma assinatura e em tempo de execução a JVM sabe o método saque de qual classe executar.</a:t>
            </a:r>
            <a:endParaRPr lang="pt-BR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232;p34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Exercício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113" name="Google Shape;233;p34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4" name="Google Shape;234;p34"/>
          <p:cNvSpPr/>
          <p:nvPr/>
        </p:nvSpPr>
        <p:spPr>
          <a:xfrm>
            <a:off x="506160" y="2502360"/>
            <a:ext cx="8232480" cy="42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1) Criar a classe Pessoa com as seguintes características:</a:t>
            </a:r>
            <a:endParaRPr lang="pt-BR" sz="1400" b="0" strike="noStrike" spc="-1"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Verdana"/>
              <a:buChar char="-"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Atributos: idade e dia, mês e ano de nascimento, nome da pessoa</a:t>
            </a:r>
            <a:endParaRPr lang="pt-BR" sz="1400" b="0" strike="noStrike" spc="-1"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Verdana"/>
              <a:buChar char="-"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Métodos:</a:t>
            </a:r>
            <a:endParaRPr lang="pt-BR" sz="1400" b="0" strike="noStrike" spc="-1">
              <a:latin typeface="Arial"/>
            </a:endParaRPr>
          </a:p>
          <a:p>
            <a:pPr marL="914400" indent="-317520" algn="just">
              <a:lnSpc>
                <a:spcPct val="150000"/>
              </a:lnSpc>
              <a:buClr>
                <a:srgbClr val="000000"/>
              </a:buClr>
              <a:buFont typeface="Verdana"/>
              <a:buChar char="-"/>
              <a:tabLst>
                <a:tab pos="0" algn="l"/>
              </a:tabLst>
            </a:pPr>
            <a:r>
              <a:rPr lang="pt-BR" sz="1400" b="0" strike="noStrike" spc="-1" err="1">
                <a:solidFill>
                  <a:srgbClr val="000000"/>
                </a:solidFill>
                <a:latin typeface="Verdana"/>
                <a:ea typeface="Verdana"/>
              </a:rPr>
              <a:t>calculaIdade</a:t>
            </a: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(), que recebe a data atual em dias, mês e anos e calcula e armazena no atributo idade a idade atual da pessoa </a:t>
            </a:r>
            <a:endParaRPr lang="pt-BR" sz="1400" b="0" strike="noStrike" spc="-1">
              <a:latin typeface="Arial"/>
            </a:endParaRPr>
          </a:p>
          <a:p>
            <a:pPr marL="914400" indent="-317520" algn="just">
              <a:lnSpc>
                <a:spcPct val="150000"/>
              </a:lnSpc>
              <a:buClr>
                <a:srgbClr val="000000"/>
              </a:buClr>
              <a:buFont typeface="Verdana"/>
              <a:buChar char="-"/>
              <a:tabLst>
                <a:tab pos="0" algn="l"/>
              </a:tabLst>
            </a:pPr>
            <a:r>
              <a:rPr lang="pt-BR" sz="1400" b="0" strike="noStrike" spc="-1" err="1">
                <a:solidFill>
                  <a:srgbClr val="000000"/>
                </a:solidFill>
                <a:latin typeface="Verdana"/>
                <a:ea typeface="Verdana"/>
              </a:rPr>
              <a:t>informaIdade</a:t>
            </a: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(), que retorna o valor da idade</a:t>
            </a:r>
            <a:endParaRPr lang="pt-BR" sz="1400" b="0" strike="noStrike" spc="-1">
              <a:latin typeface="Arial"/>
            </a:endParaRPr>
          </a:p>
          <a:p>
            <a:pPr marL="914400" indent="-317520" algn="just">
              <a:lnSpc>
                <a:spcPct val="150000"/>
              </a:lnSpc>
              <a:buClr>
                <a:srgbClr val="000000"/>
              </a:buClr>
              <a:buFont typeface="Verdana"/>
              <a:buChar char="-"/>
              <a:tabLst>
                <a:tab pos="0" algn="l"/>
              </a:tabLst>
            </a:pPr>
            <a:r>
              <a:rPr lang="pt-BR" sz="1400" b="0" strike="noStrike" spc="-1" err="1">
                <a:solidFill>
                  <a:srgbClr val="000000"/>
                </a:solidFill>
                <a:latin typeface="Verdana"/>
                <a:ea typeface="Verdana"/>
              </a:rPr>
              <a:t>informaNome</a:t>
            </a: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(), que retorna o nome da pessoa</a:t>
            </a:r>
            <a:endParaRPr lang="pt-BR" sz="1400" b="0" strike="noStrike" spc="-1">
              <a:latin typeface="Arial"/>
            </a:endParaRPr>
          </a:p>
          <a:p>
            <a:pPr marL="914400" indent="-317520" algn="just">
              <a:lnSpc>
                <a:spcPct val="150000"/>
              </a:lnSpc>
              <a:buClr>
                <a:srgbClr val="000000"/>
              </a:buClr>
              <a:buFont typeface="Verdana"/>
              <a:buChar char="-"/>
              <a:tabLst>
                <a:tab pos="0" algn="l"/>
              </a:tabLst>
            </a:pPr>
            <a:r>
              <a:rPr lang="pt-BR" sz="1400" b="0" strike="noStrike" spc="-1" err="1">
                <a:solidFill>
                  <a:srgbClr val="000000"/>
                </a:solidFill>
                <a:latin typeface="Verdana"/>
                <a:ea typeface="Verdana"/>
              </a:rPr>
              <a:t>ajustaDataDeNascimento</a:t>
            </a: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(), que recebe dia, mês e ano de nascimento como parâmetros e preenche nos atributos correspondentes do objeto.</a:t>
            </a:r>
            <a:endParaRPr lang="pt-BR" sz="1400" b="0" strike="noStrike" spc="-1"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Verdana"/>
              <a:buChar char="-"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Criar dois objetos da classe Pessoa, um representando Albert Einstein (nascido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em 14/3/1879) e o outro representando Isaac Newton (nascido em 4/1/1643)</a:t>
            </a:r>
            <a:endParaRPr lang="pt-BR" sz="1400" b="0" strike="noStrike" spc="-1"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00000"/>
              </a:buClr>
              <a:buFont typeface="Verdana"/>
              <a:buChar char="-"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Fazer uma classe principal (</a:t>
            </a:r>
            <a:r>
              <a:rPr lang="pt-BR" sz="1400" b="0" strike="noStrike" spc="-1" err="1">
                <a:solidFill>
                  <a:srgbClr val="000000"/>
                </a:solidFill>
                <a:latin typeface="Verdana"/>
                <a:ea typeface="Verdana"/>
              </a:rPr>
              <a:t>Main</a:t>
            </a: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) que instancie os objetos, inicialize e mostre quais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seriam as idades de Einstein e Newton caso estivessem vivos.</a:t>
            </a:r>
            <a:endParaRPr lang="pt-BR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232;p 2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Exercício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116" name="Google Shape;233;p 2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7" name="Google Shape;234;p 2"/>
          <p:cNvSpPr/>
          <p:nvPr/>
        </p:nvSpPr>
        <p:spPr>
          <a:xfrm>
            <a:off x="506160" y="2502360"/>
            <a:ext cx="8232480" cy="86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1) </a:t>
            </a:r>
            <a:r>
              <a:rPr lang="pt-BR" sz="1700" b="0" strike="noStrike" spc="-1">
                <a:solidFill>
                  <a:srgbClr val="000000"/>
                </a:solidFill>
                <a:latin typeface="Verdana"/>
                <a:ea typeface="Verdana"/>
              </a:rPr>
              <a:t>Criar por Herança a classe Funcionario, com os atributos salário e matrícula, e a classe Aluno com os atributos registroAcademico e curso.</a:t>
            </a:r>
            <a:endParaRPr lang="pt-BR" sz="17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32;p 1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Exercício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119" name="Google Shape;233;p 1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20" name="Google Shape;234;p 1"/>
          <p:cNvSpPr/>
          <p:nvPr/>
        </p:nvSpPr>
        <p:spPr>
          <a:xfrm>
            <a:off x="506160" y="2502360"/>
            <a:ext cx="8232480" cy="456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2) Escreva em Java uma classe Continente.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Um continente possui um nome e é composto por um conjunto de países. Forneça os membros de classe a seguir: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a) Construtor que inicialize o nome do continente;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b) Um método que permita adicionar países aos continentes;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c) Um método que retorne a dimensão total do continente;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d) Um método que retorne a população total do continente;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e) Um método que retorne a densidade populacional do continente;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f) Um método que retorne o país com maior população no continente;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g) Um método que retorne o país com menor população no continente;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h) Um método que retorne o país de maior dimensão territorial no continente;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i) Um método que retorne o país de menor dimensão territorial no continente;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j) Um método que retorne a razão territorial do maior pais em relação ao menor país.</a:t>
            </a:r>
            <a:endParaRPr lang="pt-BR" sz="1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endParaRPr lang="pt-BR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32;p 3"/>
          <p:cNvSpPr/>
          <p:nvPr/>
        </p:nvSpPr>
        <p:spPr>
          <a:xfrm>
            <a:off x="769320" y="622440"/>
            <a:ext cx="74628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FFFFFF"/>
                </a:solidFill>
                <a:latin typeface="Verdana"/>
                <a:ea typeface="Verdana"/>
              </a:rPr>
              <a:t>Exercício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122" name="Google Shape;233;p 3"/>
          <p:cNvSpPr/>
          <p:nvPr/>
        </p:nvSpPr>
        <p:spPr>
          <a:xfrm>
            <a:off x="0" y="0"/>
            <a:ext cx="29988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23" name="Google Shape;234;p 3"/>
          <p:cNvSpPr/>
          <p:nvPr/>
        </p:nvSpPr>
        <p:spPr>
          <a:xfrm>
            <a:off x="506160" y="2502360"/>
            <a:ext cx="8232480" cy="16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Verdana"/>
                <a:ea typeface="Verdana"/>
              </a:rPr>
              <a:t>3) Imagine que você está desenvolvendo um sistema para uma agência de turismo. A agência oferece diferentes tipos de pacotes de viagem, como pacotes nacionais e internacionais. Cada pacote tem suas características específicas, como destino, duração da viagem, preço e atividades inclusas. Além disso, a agência também tem clientes que podem adquirir esses pacotes.</a:t>
            </a:r>
            <a:endParaRPr lang="pt-BR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0C748D6E0250478B6D514C13DE29BE" ma:contentTypeVersion="10" ma:contentTypeDescription="Crie um novo documento." ma:contentTypeScope="" ma:versionID="1e87eb315d63559553075dc7dfed88a1">
  <xsd:schema xmlns:xsd="http://www.w3.org/2001/XMLSchema" xmlns:xs="http://www.w3.org/2001/XMLSchema" xmlns:p="http://schemas.microsoft.com/office/2006/metadata/properties" xmlns:ns2="7e8e0a96-82f1-4a18-9696-21297361e16c" xmlns:ns3="7341aa92-a222-4c6f-8c7e-47d7aaf3cdf8" targetNamespace="http://schemas.microsoft.com/office/2006/metadata/properties" ma:root="true" ma:fieldsID="cacc7e57213472781f8c31ce289ec9ca" ns2:_="" ns3:_="">
    <xsd:import namespace="7e8e0a96-82f1-4a18-9696-21297361e16c"/>
    <xsd:import namespace="7341aa92-a222-4c6f-8c7e-47d7aaf3cd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e0a96-82f1-4a18-9696-21297361e1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424f432f-11f8-460c-80fa-0ed9f17ae9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1aa92-a222-4c6f-8c7e-47d7aaf3cdf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9c41046-ee7b-4acf-93a1-0ca68d4f6485}" ma:internalName="TaxCatchAll" ma:showField="CatchAllData" ma:web="7341aa92-a222-4c6f-8c7e-47d7aaf3cd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341aa92-a222-4c6f-8c7e-47d7aaf3cdf8" xsi:nil="true"/>
    <lcf76f155ced4ddcb4097134ff3c332f xmlns="7e8e0a96-82f1-4a18-9696-21297361e16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893BE8-07FA-4F05-B9B6-9A3907740E98}">
  <ds:schemaRefs>
    <ds:schemaRef ds:uri="7341aa92-a222-4c6f-8c7e-47d7aaf3cdf8"/>
    <ds:schemaRef ds:uri="7e8e0a96-82f1-4a18-9696-21297361e16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8DEF3F6-896E-4A93-85FF-4F9FA5C7B3B3}">
  <ds:schemaRefs>
    <ds:schemaRef ds:uri="7341aa92-a222-4c6f-8c7e-47d7aaf3cdf8"/>
    <ds:schemaRef ds:uri="7e8e0a96-82f1-4a18-9696-21297361e16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852519-E039-459D-BC53-4D4A8C6925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revision>1</cp:revision>
  <dcterms:modified xsi:type="dcterms:W3CDTF">2025-04-23T23:53:33Z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0x0101008E0C748D6E0250478B6D514C13DE29BE</vt:lpwstr>
  </property>
  <property fmtid="{D5CDD505-2E9C-101B-9397-08002B2CF9AE}" pid="3" name="MediaServiceImageTags">
    <vt:lpwstr/>
  </property>
</Properties>
</file>